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12680" y="0"/>
            <a:ext cx="2176272" cy="146304"/>
          </a:xfrm>
          <a:prstGeom prst="rect">
            <a:avLst/>
          </a:prstGeom>
          <a:solidFill>
            <a:srgbClr val="DE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6B9E1"/>
                </a:solidFill>
                <a:latin typeface="Aptos Display"/>
              </a:defRPr>
            </a:pPr>
            <a:r>
              <a:t>Executive Presentation</a:t>
            </a:r>
          </a:p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Customer Shopping Behavior Analysis</a:t>
            </a:r>
          </a:p>
          <a:p>
            <a:pPr>
              <a:spcBef>
                <a:spcPts val="1200"/>
              </a:spcBef>
              <a:defRPr sz="1800">
                <a:solidFill>
                  <a:srgbClr val="DCE0EB"/>
                </a:solidFill>
                <a:latin typeface="Aptos"/>
              </a:defRPr>
            </a:pPr>
            <a:r>
              <a:t>Data-Driven Insights for Marketing, Retention &amp; Revenue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069080"/>
            <a:ext cx="4937760" cy="566928"/>
          </a:xfrm>
          <a:prstGeom prst="roundRect">
            <a:avLst/>
          </a:prstGeom>
          <a:solidFill>
            <a:srgbClr val="2B3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Python   |   PostgreSQL   |  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DD0DC"/>
                </a:solidFill>
                <a:latin typeface="Aptos"/>
              </a:defRPr>
            </a:pPr>
            <a:r>
              <a:t>Presenter: Suraj Mishra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Business Context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6B76"/>
                </a:solidFill>
                <a:latin typeface="Aptos"/>
              </a:defRPr>
            </a:pPr>
            <a:r>
              <a:t>Understanding the levers that influence retail growth, profitability and customer retention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94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920240"/>
          </a:xfrm>
          <a:prstGeom prst="rect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Business Objective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Scale retail sales while improving customer retention and protecting profit margins.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64008" cy="1920240"/>
          </a:xfrm>
          <a:prstGeom prst="rect">
            <a:avLst/>
          </a:prstGeom>
          <a:solidFill>
            <a:srgbClr val="6F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27048"/>
            <a:ext cx="49377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Core Business Questions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• Are discounts and promo codes increasing sales enough to justify margin impact?</a:t>
            </a:r>
            <a:br/>
            <a:r>
              <a:t>• How do subscribed and non-subscribed customers differ in purchasing behavior?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10927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64008" cy="1508760"/>
          </a:xfrm>
          <a:prstGeom prst="rect">
            <a:avLst/>
          </a:prstGeom>
          <a:solidFill>
            <a:srgbClr val="DE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21608"/>
            <a:ext cx="105156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Dataset Scope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3,900 customer transactions covering demographics, basket value, payment preferences and customer reviews. The analysis combines customer-level and transaction-level attributes to identify actionable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349240"/>
            <a:ext cx="2560320" cy="566928"/>
          </a:xfrm>
          <a:prstGeom prst="roundRect">
            <a:avLst/>
          </a:prstGeom>
          <a:solidFill>
            <a:srgbClr val="6F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Customer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5349240"/>
            <a:ext cx="2560320" cy="566928"/>
          </a:xfrm>
          <a:prstGeom prst="roundRect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Behavior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5349240"/>
            <a:ext cx="2560320" cy="566928"/>
          </a:xfrm>
          <a:prstGeom prst="roundRect">
            <a:avLst/>
          </a:prstGeom>
          <a:solidFill>
            <a:srgbClr val="DE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B76"/>
                </a:solidFill>
                <a:latin typeface="Aptos"/>
              </a:defRPr>
            </a:pPr>
            <a:r>
              <a:t>Customer Shopping Behavior Analysis  •  Suraj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Analytical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6B76"/>
                </a:solidFill>
                <a:latin typeface="Aptos"/>
              </a:defRPr>
            </a:pPr>
            <a:r>
              <a:t>The analysis highlights clear opportunities across customer segments, subscriptions and product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434840"/>
          </a:xfrm>
          <a:prstGeom prst="rect">
            <a:avLst/>
          </a:prstGeom>
          <a:solidFill>
            <a:srgbClr val="6F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30632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01  Demographics &amp; Spending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High-value age groups and selected product categories are key contributors to revenue and sales.</a:t>
            </a:r>
            <a:br/>
            <a:br/>
            <a:r>
              <a:t>The dashboard indicates that the Senior segment leads the displayed age groups for both revenue and sales.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64008" cy="4434840"/>
          </a:xfrm>
          <a:prstGeom prst="rect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27048"/>
            <a:ext cx="30632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02  Discount Elasticity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Promo codes can support basket growth, but discounting should be segmented by customer and order value.</a:t>
            </a:r>
            <a:br/>
            <a:br/>
            <a:r>
              <a:t>The objective is to balance conversion uplift with margin protection.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325880"/>
            <a:ext cx="3474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3" y="1325880"/>
            <a:ext cx="64008" cy="4434840"/>
          </a:xfrm>
          <a:prstGeom prst="rect">
            <a:avLst/>
          </a:prstGeom>
          <a:solidFill>
            <a:srgbClr val="DE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1527048"/>
            <a:ext cx="30632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03  Subscription Opportunity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Non-subscribed customers represent the majority in the displayed dashboard view.</a:t>
            </a:r>
            <a:br/>
            <a:br/>
            <a:r>
              <a:t>This creates a clear opportunity to improve subscription conversion through relevant benefits and targeted offers.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25312"/>
            <a:ext cx="10927080" cy="438912"/>
          </a:xfrm>
          <a:prstGeom prst="round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Key takeaway: Segment customers before applying discounts, loyalty benefits or marketing spend.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B76"/>
                </a:solidFill>
                <a:latin typeface="Aptos"/>
              </a:defRPr>
            </a:pPr>
            <a:r>
              <a:t>Customer Shopping Behavior Analysis  •  Suraj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Power BI Dashboard &amp; Visual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6B76"/>
                </a:solidFill>
                <a:latin typeface="Aptos"/>
              </a:defRPr>
            </a:pPr>
            <a:r>
              <a:t>Interactive view of customer behavior, category performance and age-group trends</a:t>
            </a:r>
          </a:p>
        </p:txBody>
      </p:sp>
      <p:pic>
        <p:nvPicPr>
          <p:cNvPr id="6" name="Picture 5" descr="bbb7ef47-9326-48e6-890f-16d292dbbb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365992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1097280"/>
            <a:ext cx="11365992" cy="5486400"/>
          </a:xfrm>
          <a:prstGeom prst="rect">
            <a:avLst/>
          </a:prstGeom>
          <a:noFill/>
          <a:ln w="12700">
            <a:solidFill>
              <a:srgbClr val="D2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B76"/>
                </a:solidFill>
                <a:latin typeface="Aptos"/>
              </a:defRPr>
            </a:pPr>
            <a:r>
              <a:t>Customer Shopping Behavior Analysis  •  Suraj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6B76"/>
                </a:solidFill>
                <a:latin typeface="Aptos"/>
              </a:defRPr>
            </a:pPr>
            <a:r>
              <a:t>Translate analytical findings into focused actions for growth, retention and profitability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1417320"/>
          </a:xfrm>
          <a:prstGeom prst="rect">
            <a:avLst/>
          </a:prstGeom>
          <a:solidFill>
            <a:srgbClr val="6F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Targeted Loyalty Program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Convert high-potential non-subscribers using free-shipping benefits and relevant exclusive offers.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64008" cy="1417320"/>
          </a:xfrm>
          <a:prstGeom prst="rect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35608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Optimized Promo Strategy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Set dynamic discount limits based on order value and customer segment to reduce unnecessary margin erosion.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64008" cy="1417320"/>
          </a:xfrm>
          <a:prstGeom prst="rect">
            <a:avLst/>
          </a:prstGeom>
          <a:solidFill>
            <a:srgbClr val="DE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7296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Category Focus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Prioritize inventory availability and targeted advertising for top-performing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718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971800"/>
            <a:ext cx="64008" cy="1417320"/>
          </a:xfrm>
          <a:prstGeom prst="rect">
            <a:avLst/>
          </a:prstGeom>
          <a:solidFill>
            <a:srgbClr val="6F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172968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Customer Experience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Use review and delivery insights to identify friction points and improve customer satisfaction.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10927080" cy="960120"/>
          </a:xfrm>
          <a:prstGeom prst="round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Expected Business Impact</a:t>
            </a:r>
          </a:p>
          <a:p>
            <a:pPr algn="ctr">
              <a:defRPr sz="1200">
                <a:solidFill>
                  <a:srgbClr val="E1E4EC"/>
                </a:solidFill>
                <a:latin typeface="Aptos"/>
              </a:defRPr>
            </a:pPr>
            <a:r>
              <a:t>Higher subscription conversion  •  Better promo efficiency  •  Stronger category ROI  •  Improved customer experience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B76"/>
                </a:solidFill>
                <a:latin typeface="Aptos"/>
              </a:defRPr>
            </a:pPr>
            <a:r>
              <a:t>Customer Shopping Behavior Analysis  •  Suraj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Next Steps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6B76"/>
                </a:solidFill>
                <a:latin typeface="Aptos"/>
              </a:defRPr>
            </a:pPr>
            <a:r>
              <a:t>A complete analytics workflow from data preparation to executive decision-making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234440"/>
            <a:ext cx="640080" cy="640080"/>
          </a:xfrm>
          <a:prstGeom prst="ellipse">
            <a:avLst/>
          </a:prstGeom>
          <a:solidFill>
            <a:srgbClr val="6F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1207008"/>
            <a:ext cx="9646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0200" y="1207008"/>
            <a:ext cx="64008" cy="749808"/>
          </a:xfrm>
          <a:prstGeom prst="rect">
            <a:avLst/>
          </a:prstGeom>
          <a:solidFill>
            <a:srgbClr val="6F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408176"/>
            <a:ext cx="9235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Executive Report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Detailed business findings and recommendations in PDF format.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640080" cy="640080"/>
          </a:xfrm>
          <a:prstGeom prst="ellipse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2395728"/>
            <a:ext cx="9646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0200" y="2395728"/>
            <a:ext cx="64008" cy="749808"/>
          </a:xfrm>
          <a:prstGeom prst="rect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596896"/>
            <a:ext cx="9235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Data Pipeline &amp; Staging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Python notebook for data cleaning, transformation and analysis.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611880"/>
            <a:ext cx="640080" cy="640080"/>
          </a:xfrm>
          <a:prstGeom prst="ellipse">
            <a:avLst/>
          </a:prstGeom>
          <a:solidFill>
            <a:srgbClr val="6F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3584448"/>
            <a:ext cx="9646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200" y="3584448"/>
            <a:ext cx="64008" cy="749808"/>
          </a:xfrm>
          <a:prstGeom prst="rect">
            <a:avLst/>
          </a:prstGeom>
          <a:solidFill>
            <a:srgbClr val="6F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785616"/>
            <a:ext cx="9235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PostgreSQL Warehouse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SQL queries for data preparation, KPI calculation and business analysis.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800600"/>
            <a:ext cx="640080" cy="640080"/>
          </a:xfrm>
          <a:prstGeom prst="ellipse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4773168"/>
            <a:ext cx="9646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0200" y="4773168"/>
            <a:ext cx="64008" cy="749808"/>
          </a:xfrm>
          <a:prstGeom prst="rect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974336"/>
            <a:ext cx="9235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33D"/>
                </a:solidFill>
                <a:latin typeface="Aptos Display"/>
              </a:defRPr>
            </a:pPr>
            <a:r>
              <a:t>GitHub Repository</a:t>
            </a:r>
          </a:p>
          <a:p>
            <a:pPr>
              <a:spcAft>
                <a:spcPts val="400"/>
              </a:spcAft>
              <a:defRPr sz="1300">
                <a:solidFill>
                  <a:srgbClr val="262830"/>
                </a:solidFill>
                <a:latin typeface="Aptos"/>
              </a:defRPr>
            </a:pPr>
            <a:r>
              <a:t>Project code, documentation and README links for reproducibility.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807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8233D"/>
                </a:solidFill>
                <a:latin typeface="Aptos Display"/>
              </a:defRPr>
            </a:pPr>
            <a:r>
              <a:t>From raw transactions to actionable business decisions.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6B76"/>
                </a:solidFill>
                <a:latin typeface="Aptos"/>
              </a:defRPr>
            </a:pPr>
            <a:r>
              <a:t>Customer Shopping Behavior Analysis  •  Suraj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0"/>
            <a:ext cx="2221992" cy="146304"/>
          </a:xfrm>
          <a:prstGeom prst="rect">
            <a:avLst/>
          </a:prstGeom>
          <a:solidFill>
            <a:srgbClr val="DEB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8036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DCE0EB"/>
                </a:solidFill>
                <a:latin typeface="Aptos"/>
              </a:defRPr>
            </a:pPr>
            <a:r>
              <a:t>Customer Shopping Behavior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77639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6B9E1"/>
                </a:solidFill>
                <a:latin typeface="Aptos Display"/>
              </a:defRPr>
            </a:pPr>
            <a:r>
              <a:t>Suraj Mishra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CE0EB"/>
                </a:solidFill>
                <a:latin typeface="Aptos"/>
              </a:defRPr>
            </a:pPr>
            <a:r>
              <a:t>Python  |  PostgreSQL  | 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